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leads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3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Search / SEO</c:v>
                </c:pt>
                <c:pt idx="1">
                  <c:v>Referrals &amp; Planners</c:v>
                </c:pt>
                <c:pt idx="2">
                  <c:v>Social Media</c:v>
                </c:pt>
                <c:pt idx="3">
                  <c:v>LinkedIn &amp; B2B</c:v>
                </c:pt>
                <c:pt idx="4">
                  <c:v>Gov. / Corporate</c:v>
                </c:pt>
                <c:pt idx="5">
                  <c:v>Marketplaces (Hafla etc.)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EC-44D3-AB30-8B4620F2D3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3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12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754880" cy="4754880"/>
          </a:xfrm>
          <a:prstGeom prst="ellipse">
            <a:avLst/>
          </a:prstGeom>
          <a:solidFill>
            <a:srgbClr val="8A3B3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C8863E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C88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AL JAFANAT CATERERS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Word-of-Mouth to a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Predictable Booking Engine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growth &amp; lead-generation strategy for Dubai's catering market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257800"/>
            <a:ext cx="109728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5394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Evolix  ·  Digital Growth &amp; AI Solutions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now, growth depends on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luck — not a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1031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 or online presence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441448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can't find or vet you before calling.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1089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dependent on word-of-mouth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447288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trust, but it doesn't scale and it's unpredictable.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1148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lead flow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453128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come in waves, with no way to plan ahead.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1206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 proof of your work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458968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food never gets seen by people who aren't already asking.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2103120"/>
            <a:ext cx="4160520" cy="3794760"/>
          </a:xfrm>
          <a:prstGeom prst="roundRect">
            <a:avLst>
              <a:gd name="adj" fmla="val 2892"/>
            </a:avLst>
          </a:prstGeom>
          <a:solidFill>
            <a:srgbClr val="2B1D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680960" y="242316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88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7818120" y="3429000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UAE customers say they trust online reviews before choosing a service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01000" y="4526280"/>
            <a:ext cx="3063240" cy="0"/>
          </a:xfrm>
          <a:prstGeom prst="line">
            <a:avLst/>
          </a:prstGeom>
          <a:noFill/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818120" y="470916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digital footprint, Al Jafanat is invisible to the majority of buyers who research before they call.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DUBAI CATERING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where catering leads actually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from — and where we'll compete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2148840"/>
          <a:ext cx="69494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2148840"/>
            <a:ext cx="3794760" cy="4160520"/>
          </a:xfrm>
          <a:prstGeom prst="roundRect">
            <a:avLst>
              <a:gd name="adj" fmla="val 2410"/>
            </a:avLst>
          </a:prstGeom>
          <a:solidFill>
            <a:srgbClr val="DCE6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046720" y="23774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Al Jafanat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092440" y="3026664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275320" y="289864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referrals are still king — a website and Google Business Profile are non-negotiable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92440" y="3803904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275320" y="367588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content on social media builds the trust that converts a search into a message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092440" y="4581144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275320" y="445312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and corporate lunch contracts are a smaller slice, but the highest value per client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92440" y="5358384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275320" y="52303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like Hafla give instant access to buyers already looking for caterers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STRANGER BECOMES A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customer journey we'll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60020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1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74420" y="20116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744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3200400"/>
            <a:ext cx="1453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Instagram,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referral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30552" y="31089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395728" y="2331720"/>
            <a:ext cx="160020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1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921508" y="20116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921508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95728" y="2743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3200400"/>
            <a:ext cx="1453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form 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WhatsApp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77640" y="31089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42816" y="2331720"/>
            <a:ext cx="160020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1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68596" y="20116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68596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42816" y="2743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15968" y="3200400"/>
            <a:ext cx="1453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reply with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pricing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24728" y="31089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089904" y="2331720"/>
            <a:ext cx="160020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1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615684" y="20116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615684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089904" y="2743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63056" y="3200400"/>
            <a:ext cx="1453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menu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needed)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71816" y="31089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936992" y="2331720"/>
            <a:ext cx="160020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1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462772" y="20116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462772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936992" y="2743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10144" y="3200400"/>
            <a:ext cx="1453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secures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518904" y="31089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784080" y="2331720"/>
            <a:ext cx="160020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9E1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0309860" y="20116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03098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784080" y="2743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857232" y="3200400"/>
            <a:ext cx="1453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return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2B1D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68680" y="51023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8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factor that wins the sale: speed.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846320" y="507492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Dubai caterers reply to WhatsApp quote requests in under 10 minutes, versus a 24-hour industry norm. A fast, templated response process is one of the highest-leverage things we'll set up.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TRUST BEFORE THE FIRST MESSAGE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actually post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DCE6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3500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highlights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&amp; video of buffets, plated meals and live stations — showing range and scale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21488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DCE6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26280" y="23774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2628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3500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Behind-the-scenes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9260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prep, chefs at work — humanizing the brand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DCE6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75320" y="23774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7532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23960" y="23500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stories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75320" y="29260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Testimonials from happy hosts and corporate clients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DCE6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77240" y="44348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4074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&amp; tasting features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983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dish shots, menu reveal carousels, seasonal specials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42062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DCE6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26280" y="44348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2628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44074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content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4983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tips, Q&amp;A reels, event checklists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42062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DCE6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275320" y="44348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27532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23960" y="44074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75320" y="4983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offers, referral incentives, seasonal deals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 3–5 feed posts/week + 1 reel/week on Instagram   ·   1–2 posts/week on LinkedIn targeting HR &amp; event planners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INTEREST INTO BOOKINGS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website &amp; WhatsApp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0939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“Request a Quote” CTA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7280" y="240487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page — no hunting for how to contact you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9352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quote form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97280" y="3246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type, date, guest count, budget, cuisine preference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7764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starting prices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97280" y="40873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low-ball inquiries and builds trust upfront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672584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4672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617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WhatsApp button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97280" y="492861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urgent inquiries skip the form entirely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513832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5513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4589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hand-off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97280" y="5769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tagged by source and assigned for fast follow-up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03720" y="1783080"/>
            <a:ext cx="4297680" cy="4709160"/>
          </a:xfrm>
          <a:prstGeom prst="roundRect">
            <a:avLst>
              <a:gd name="adj" fmla="val 5319"/>
            </a:avLst>
          </a:prstGeom>
          <a:solidFill>
            <a:srgbClr val="2B1D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040880" y="2286000"/>
            <a:ext cx="4023360" cy="3886200"/>
          </a:xfrm>
          <a:prstGeom prst="roundRect">
            <a:avLst>
              <a:gd name="adj" fmla="val 2353"/>
            </a:avLst>
          </a:prstGeom>
          <a:solidFill>
            <a:srgbClr val="E8E3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040880" y="18928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Jafanat Caterers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78040" y="2423160"/>
            <a:ext cx="32004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0" y="2496312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I need catering for ~50 guests, corporate lunch on 5 Sep.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26680" y="3300984"/>
            <a:ext cx="3200400" cy="749808"/>
          </a:xfrm>
          <a:prstGeom prst="roundRect">
            <a:avLst>
              <a:gd name="adj" fmla="val 9756"/>
            </a:avLst>
          </a:prstGeom>
          <a:solidFill>
            <a:srgbClr val="7E9B8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863840" y="3374136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reaching out! Delivery only, or full buffet setup with staff?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78040" y="4178808"/>
            <a:ext cx="32004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315200" y="4251960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delivery. Budget is about AED 35 per person.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26680" y="5056632"/>
            <a:ext cx="3200400" cy="987552"/>
          </a:xfrm>
          <a:prstGeom prst="roundRect">
            <a:avLst>
              <a:gd name="adj" fmla="val 7407"/>
            </a:avLst>
          </a:prstGeom>
          <a:solidFill>
            <a:srgbClr val="7E9B8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863840" y="5129784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 buffet at AED 32/head. Sending the menu now — 50% deposit confirms the date.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HIGHEST-VALUE CHANNEL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&amp; corporate catering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DCE6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lunch programs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weekly/daily meal contracts with offices — predictable, recurring revenue instead of one-off events.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2B1D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0" y="24688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1546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&amp; large-account tenders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0" y="37947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 supplier portals for stadium, conference and institutional catering — fewer deals, much bigger value.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DCE6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21040" y="24688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210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1546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 account management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21040" y="37947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 to HR &amp; office managers, plus a documented case-study post after every large event.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terms to formalize: 50–100% deposit to confirm, Net-30 invoicing for trusted corporate accounts, and a clear cancellation policy.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OTHER PEOPLE'S AUDIENCES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Partnerships &amp; marketplaces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9E1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planners &amp; venues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partnerships with wedding/event planners and venue “preferred vendor” lists — offer a referral commission.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9E1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0" y="24688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1546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Hafla marketplace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0" y="379476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 Jafanat among Hafla's 150+ approved caterers to tap into buyers already booking events.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9E1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21040" y="24688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210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1546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platforms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21040" y="379476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Talabat / Deliveroo listings bring incremental office-lunch orders and brand visibility — not a primary channel, but easy upside.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ESTABLISHED CATERERS COMPETE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snapshot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318211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Caterer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D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Lead Channels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D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D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Prices Posted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D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D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Tattvam Sweets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Search, Instagram, repeat clients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preferred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Sfumato Gastro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Agencies, Google Ads, LinkedIn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RoyalBerry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Referrals, social, B2B networks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Odeon Gourmet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Affluent market, venue tastings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Epicure Catering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contracts, hotels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DCE6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 can win: transparent pricing + genuinely fast WhatsApp replies. Only two of five competitors do both well.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LEVERS WE'LL PULL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&amp; marketing tactics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9E1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3500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Ads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high-intent keywords like “Dubai office catering” and “wedding caterer Dubai”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21488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9E1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26280" y="23774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2628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3500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SEO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9260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Google Business Profile with categories, photos and reviews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9E1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75320" y="23774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7532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23960" y="23500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 outreach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75320" y="29260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messages to HR &amp; event managers offering a free tasting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9E1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77240" y="44348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4074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Reviews &amp; reputation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983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requests after every event — 90% of buyers check them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42062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9E1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26280" y="44348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2628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44074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Referral program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4983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discount or credit for clients who refer new business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42062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9E1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275320" y="44348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27532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23960" y="44074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&amp; analytics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75320" y="4983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tags + CRM so every lead's source and value is visible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ROLL THIS 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90 days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DCE6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410712"/>
            <a:ext cx="73152" cy="7315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87552" y="3264408"/>
            <a:ext cx="28072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Website, quote form &amp; WhatsApp Business set up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4123944"/>
            <a:ext cx="73152" cy="7315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87552" y="3977640"/>
            <a:ext cx="28072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 claimed &amp; optimized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4837176"/>
            <a:ext cx="73152" cy="7315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87552" y="4690872"/>
            <a:ext cx="28072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3-week content calendar drafted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5550408"/>
            <a:ext cx="73152" cy="7315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87552" y="5404104"/>
            <a:ext cx="28072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on Hafla; outreach to 5 planners/venues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214884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DCE6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0" y="23774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0" y="2651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Generation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0" y="3410712"/>
            <a:ext cx="73152" cy="7315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36592" y="3264408"/>
            <a:ext cx="28072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&amp; social ads launched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4123944"/>
            <a:ext cx="73152" cy="7315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36592" y="3977640"/>
            <a:ext cx="28072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outreach to 50+ target companies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4837176"/>
            <a:ext cx="73152" cy="7315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36592" y="4690872"/>
            <a:ext cx="28072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campaign to past clients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5550408"/>
            <a:ext cx="73152" cy="7315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36592" y="5404104"/>
            <a:ext cx="28072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menu packages &amp; pricing finalized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46720" y="214884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2B1D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321040" y="23774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88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21040" y="2651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Scale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321040" y="3410712"/>
            <a:ext cx="73152" cy="73152"/>
          </a:xfrm>
          <a:prstGeom prst="ellipse">
            <a:avLst/>
          </a:prstGeom>
          <a:solidFill>
            <a:srgbClr val="C886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485632" y="3264408"/>
            <a:ext cx="28072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templates &amp; CRM follow-up workflows live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21040" y="4123944"/>
            <a:ext cx="73152" cy="73152"/>
          </a:xfrm>
          <a:prstGeom prst="ellipse">
            <a:avLst/>
          </a:prstGeom>
          <a:solidFill>
            <a:srgbClr val="C886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485632" y="3977640"/>
            <a:ext cx="28072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program launched (recurring lunch deals)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21040" y="4837176"/>
            <a:ext cx="73152" cy="73152"/>
          </a:xfrm>
          <a:prstGeom prst="ellipse">
            <a:avLst/>
          </a:prstGeom>
          <a:solidFill>
            <a:srgbClr val="C886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485632" y="4690872"/>
            <a:ext cx="28072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from completed events published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21040" y="5550408"/>
            <a:ext cx="73152" cy="73152"/>
          </a:xfrm>
          <a:prstGeom prst="ellipse">
            <a:avLst/>
          </a:prstGeom>
          <a:solidFill>
            <a:srgbClr val="C886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485632" y="5404104"/>
            <a:ext cx="28072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 reviewed — double down on ROI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754880" cy="4754880"/>
          </a:xfrm>
          <a:prstGeom prst="ellipse">
            <a:avLst/>
          </a:prstGeom>
          <a:solidFill>
            <a:srgbClr val="8A3B3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241280" y="-1463040"/>
            <a:ext cx="3291840" cy="3291840"/>
          </a:xfrm>
          <a:prstGeom prst="ellipse">
            <a:avLst/>
          </a:prstGeom>
          <a:solidFill>
            <a:srgbClr val="C8863E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the engine.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8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8404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8404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this plan &amp; the Phase 1 scope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38912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43891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website, WhatsApp &amp; content setup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93776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49377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check-ins to track leads and adjust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5806440"/>
            <a:ext cx="109728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Evolix  ·  Digital Growth &amp; AI Solutions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1125</Words>
  <Application>Microsoft Office PowerPoint</Application>
  <PresentationFormat>Widescreen</PresentationFormat>
  <Paragraphs>234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qusai katha</cp:lastModifiedBy>
  <cp:revision>2</cp:revision>
  <dcterms:created xsi:type="dcterms:W3CDTF">2026-08-14T05:32:22Z</dcterms:created>
  <dcterms:modified xsi:type="dcterms:W3CDTF">2026-08-14T08:53:02Z</dcterms:modified>
</cp:coreProperties>
</file>